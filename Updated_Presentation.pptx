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3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4E088-6E9C-4961-9544-2E56367B7F2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151D2-663B-445D-BECE-83418AA56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151D2-663B-445D-BECE-83418AA5698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7D658-7DE1-48C1-A32B-DE7CCFB62E9E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B9E93-91F8-4B9D-B6EF-5126F7961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1500174"/>
            <a:ext cx="8215370" cy="192882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Black" pitchFamily="34" charset="0"/>
              </a:rPr>
              <a:t>Air Quality </a:t>
            </a:r>
            <a:r>
              <a:rPr lang="en-US" b="1" dirty="0" smtClean="0">
                <a:latin typeface="Arial Black" pitchFamily="34" charset="0"/>
              </a:rPr>
              <a:t/>
            </a:r>
            <a:br>
              <a:rPr lang="en-US" b="1" dirty="0" smtClean="0">
                <a:latin typeface="Arial Black" pitchFamily="34" charset="0"/>
              </a:rPr>
            </a:br>
            <a:r>
              <a:rPr lang="en-US" b="1" dirty="0" smtClean="0">
                <a:latin typeface="Arial Black" pitchFamily="34" charset="0"/>
              </a:rPr>
              <a:t>Prediction </a:t>
            </a:r>
            <a:r>
              <a:rPr lang="en-US" b="1" dirty="0" err="1">
                <a:latin typeface="Arial Black" pitchFamily="34" charset="0"/>
              </a:rPr>
              <a:t>Hackathon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662" y="3500438"/>
            <a:ext cx="6843738" cy="14954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Predict the </a:t>
            </a:r>
            <a:r>
              <a:rPr lang="en-US" sz="2400" b="1" dirty="0" smtClean="0"/>
              <a:t>Air Quality Index (AQI)</a:t>
            </a:r>
            <a:r>
              <a:rPr lang="en-US" sz="2400" dirty="0" smtClean="0"/>
              <a:t> based on the given weather and pollution sensor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7643866" cy="45719"/>
          </a:xfrm>
        </p:spPr>
        <p:txBody>
          <a:bodyPr>
            <a:noAutofit/>
          </a:bodyPr>
          <a:lstStyle/>
          <a:p>
            <a:pPr algn="l"/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142984"/>
            <a:ext cx="8143932" cy="421484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Task:</a:t>
            </a:r>
            <a:r>
              <a:rPr lang="en-US" dirty="0" smtClean="0"/>
              <a:t> Predict the </a:t>
            </a:r>
            <a:r>
              <a:rPr lang="en-US" b="1" dirty="0" smtClean="0"/>
              <a:t>Air Quality Index (AQI)</a:t>
            </a:r>
            <a:r>
              <a:rPr lang="en-US" dirty="0" smtClean="0"/>
              <a:t> based on the given weather and pollution sensor data.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b="1" dirty="0" smtClean="0"/>
              <a:t>Objective:</a:t>
            </a:r>
            <a:r>
              <a:rPr lang="en-US" dirty="0" smtClean="0"/>
              <a:t> Classify the AQI into one of five categories (1 to 5).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Data Overview: </a:t>
            </a:r>
          </a:p>
          <a:p>
            <a:r>
              <a:rPr lang="en-US" dirty="0" smtClean="0"/>
              <a:t>Weather features (Temp, Humidity, etc.)</a:t>
            </a:r>
          </a:p>
          <a:p>
            <a:r>
              <a:rPr lang="en-US" dirty="0" smtClean="0"/>
              <a:t> Pollution features (PM2.5, PM10, CO, NO2, etc.)</a:t>
            </a:r>
          </a:p>
          <a:p>
            <a:r>
              <a:rPr lang="en-US" dirty="0" smtClean="0"/>
              <a:t>Cyclical time features (</a:t>
            </a:r>
            <a:r>
              <a:rPr lang="en-US" dirty="0" err="1" smtClean="0"/>
              <a:t>SineDay</a:t>
            </a:r>
            <a:r>
              <a:rPr lang="en-US" dirty="0" smtClean="0"/>
              <a:t>, </a:t>
            </a:r>
            <a:r>
              <a:rPr lang="en-US" dirty="0" err="1" smtClean="0"/>
              <a:t>CosineDay</a:t>
            </a:r>
            <a:r>
              <a:rPr lang="en-US" dirty="0" smtClean="0"/>
              <a:t>, etc.)</a:t>
            </a:r>
          </a:p>
          <a:p>
            <a:r>
              <a:rPr lang="en-US" dirty="0" smtClean="0"/>
              <a:t>Target: </a:t>
            </a:r>
            <a:r>
              <a:rPr lang="en-US" dirty="0" err="1" smtClean="0"/>
              <a:t>AirQuality</a:t>
            </a:r>
            <a:r>
              <a:rPr lang="en-US" dirty="0" smtClean="0"/>
              <a:t> (1 to 5).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57158" y="3000372"/>
            <a:ext cx="8572560" cy="35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US" dirty="0" smtClean="0"/>
              <a:t>Insights from EDA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58204" cy="535785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Dataset shape: </a:t>
            </a:r>
            <a:r>
              <a:rPr lang="en-US" b="1" dirty="0" smtClean="0"/>
              <a:t>(27,090 rows, 31 features)</a:t>
            </a:r>
            <a:r>
              <a:rPr lang="en-US" dirty="0" smtClean="0"/>
              <a:t> with </a:t>
            </a:r>
            <a:r>
              <a:rPr lang="en-US" b="1" dirty="0" smtClean="0"/>
              <a:t>no missing values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Correlation Findings:</a:t>
            </a:r>
            <a:endParaRPr lang="en-US" dirty="0" smtClean="0"/>
          </a:p>
          <a:p>
            <a:pPr lvl="1"/>
            <a:r>
              <a:rPr lang="en-US" i="1" dirty="0" smtClean="0"/>
              <a:t>Highest:</a:t>
            </a:r>
            <a:r>
              <a:rPr lang="en-US" dirty="0" smtClean="0"/>
              <a:t> </a:t>
            </a:r>
            <a:r>
              <a:rPr lang="en-US" b="1" dirty="0" smtClean="0"/>
              <a:t>LevelPM2</a:t>
            </a:r>
            <a:r>
              <a:rPr lang="en-US" dirty="0" smtClean="0"/>
              <a:t> and </a:t>
            </a:r>
            <a:r>
              <a:rPr lang="en-US" b="1" dirty="0" smtClean="0"/>
              <a:t>LevelPM10</a:t>
            </a:r>
            <a:endParaRPr lang="en-US" dirty="0" smtClean="0"/>
          </a:p>
          <a:p>
            <a:pPr lvl="1"/>
            <a:r>
              <a:rPr lang="en-US" i="1" dirty="0" smtClean="0"/>
              <a:t>Lowest:</a:t>
            </a:r>
            <a:r>
              <a:rPr lang="en-US" dirty="0" smtClean="0"/>
              <a:t> </a:t>
            </a:r>
            <a:r>
              <a:rPr lang="en-US" b="1" dirty="0" smtClean="0"/>
              <a:t>Humidity</a:t>
            </a:r>
            <a:r>
              <a:rPr lang="en-US" dirty="0" smtClean="0"/>
              <a:t> and </a:t>
            </a:r>
            <a:r>
              <a:rPr lang="en-US" b="1" dirty="0" err="1" smtClean="0"/>
              <a:t>CosineDay</a:t>
            </a:r>
            <a:endParaRPr lang="en-US" dirty="0" smtClean="0"/>
          </a:p>
          <a:p>
            <a:r>
              <a:rPr lang="en-US" dirty="0" smtClean="0"/>
              <a:t>Dropped irrelevant time-related features due to low or negative correlation.</a:t>
            </a:r>
          </a:p>
          <a:p>
            <a:r>
              <a:rPr lang="en-US" dirty="0" smtClean="0"/>
              <a:t>Encoded the categorical feature (</a:t>
            </a:r>
            <a:r>
              <a:rPr lang="en-US" b="1" dirty="0" err="1" smtClean="0"/>
              <a:t>WeatherType</a:t>
            </a:r>
            <a:r>
              <a:rPr lang="en-US" dirty="0" smtClean="0"/>
              <a:t>) using </a:t>
            </a:r>
            <a:r>
              <a:rPr lang="en-US" b="1" dirty="0" smtClean="0"/>
              <a:t>Label Encoding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Visualized feature distributions and relationships using </a:t>
            </a:r>
            <a:r>
              <a:rPr lang="en-US" b="1" dirty="0" err="1" smtClean="0"/>
              <a:t>Matplotlib</a:t>
            </a:r>
            <a:r>
              <a:rPr lang="en-US" dirty="0" smtClean="0"/>
              <a:t> and </a:t>
            </a:r>
            <a:r>
              <a:rPr lang="en-US" b="1" dirty="0" err="1" smtClean="0"/>
              <a:t>Seaborn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Applied </a:t>
            </a:r>
            <a:r>
              <a:rPr lang="en-US" b="1" dirty="0" smtClean="0"/>
              <a:t>feature scaling</a:t>
            </a:r>
            <a:r>
              <a:rPr lang="en-US" dirty="0" smtClean="0"/>
              <a:t> after splitting the data to prevent data leakage.</a:t>
            </a:r>
          </a:p>
          <a:p>
            <a:r>
              <a:rPr lang="en-US" dirty="0" smtClean="0"/>
              <a:t>Used </a:t>
            </a:r>
            <a:r>
              <a:rPr lang="en-US" b="1" dirty="0" smtClean="0"/>
              <a:t>SMOTE</a:t>
            </a:r>
            <a:r>
              <a:rPr lang="en-US" dirty="0" smtClean="0"/>
              <a:t> to address class imbalance:</a:t>
            </a:r>
          </a:p>
          <a:p>
            <a:pPr lvl="1"/>
            <a:r>
              <a:rPr lang="en-US" dirty="0" smtClean="0"/>
              <a:t>Class 1: </a:t>
            </a:r>
            <a:r>
              <a:rPr lang="en-US" b="1" dirty="0" smtClean="0"/>
              <a:t>18,129</a:t>
            </a:r>
            <a:endParaRPr lang="en-US" dirty="0" smtClean="0"/>
          </a:p>
          <a:p>
            <a:pPr lvl="1"/>
            <a:r>
              <a:rPr lang="en-US" dirty="0" smtClean="0"/>
              <a:t>Class 2: </a:t>
            </a:r>
            <a:r>
              <a:rPr lang="en-US" b="1" dirty="0" smtClean="0"/>
              <a:t>8,044</a:t>
            </a:r>
            <a:endParaRPr lang="en-US" dirty="0" smtClean="0"/>
          </a:p>
          <a:p>
            <a:pPr lvl="1"/>
            <a:r>
              <a:rPr lang="en-US" dirty="0" smtClean="0"/>
              <a:t>Class 3: </a:t>
            </a:r>
            <a:r>
              <a:rPr lang="en-US" b="1" dirty="0" smtClean="0"/>
              <a:t>625</a:t>
            </a:r>
            <a:endParaRPr lang="en-US" dirty="0" smtClean="0"/>
          </a:p>
          <a:p>
            <a:pPr lvl="1"/>
            <a:r>
              <a:rPr lang="en-US" dirty="0" smtClean="0"/>
              <a:t>Class 4: </a:t>
            </a:r>
            <a:r>
              <a:rPr lang="en-US" b="1" dirty="0" smtClean="0"/>
              <a:t>225</a:t>
            </a:r>
            <a:endParaRPr lang="en-US" dirty="0" smtClean="0"/>
          </a:p>
          <a:p>
            <a:pPr lvl="1"/>
            <a:r>
              <a:rPr lang="en-US" dirty="0" smtClean="0"/>
              <a:t>Class 5: </a:t>
            </a:r>
            <a:r>
              <a:rPr lang="en-US" b="1" dirty="0" smtClean="0"/>
              <a:t>67</a:t>
            </a:r>
            <a:endParaRPr lang="en-US" dirty="0" smtClean="0"/>
          </a:p>
          <a:p>
            <a:r>
              <a:rPr lang="en-US" dirty="0" smtClean="0"/>
              <a:t>Evaluated performance using multiple machine 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857232"/>
            <a:ext cx="8215370" cy="5429288"/>
          </a:xfrm>
        </p:spPr>
        <p:txBody>
          <a:bodyPr>
            <a:normAutofit fontScale="55000" lnSpcReduction="20000"/>
          </a:bodyPr>
          <a:lstStyle/>
          <a:p>
            <a:r>
              <a:rPr lang="en-US" b="1" u="sng" dirty="0" smtClean="0"/>
              <a:t>Step 1 – Data Preprocessing</a:t>
            </a:r>
          </a:p>
          <a:p>
            <a:pPr>
              <a:buNone/>
            </a:pPr>
            <a:r>
              <a:rPr lang="en-US" dirty="0" smtClean="0"/>
              <a:t>	Selected useful features and removed unnecessary time-related columns because they had low or negative correlation with the target.</a:t>
            </a:r>
          </a:p>
          <a:p>
            <a:r>
              <a:rPr lang="en-US" b="1" u="sng" dirty="0" smtClean="0"/>
              <a:t>Step 2 – Feature Encoding</a:t>
            </a:r>
          </a:p>
          <a:p>
            <a:pPr>
              <a:buNone/>
            </a:pPr>
            <a:r>
              <a:rPr lang="en-US" dirty="0" smtClean="0"/>
              <a:t>	Converted the categorical column </a:t>
            </a:r>
            <a:r>
              <a:rPr lang="en-US" dirty="0" err="1" smtClean="0"/>
              <a:t>WeatherType</a:t>
            </a:r>
            <a:r>
              <a:rPr lang="en-US" dirty="0" smtClean="0"/>
              <a:t> into numeric values using Label Encoding.</a:t>
            </a:r>
          </a:p>
          <a:p>
            <a:r>
              <a:rPr lang="en-US" b="1" u="sng" dirty="0" smtClean="0"/>
              <a:t>Step 3 – Train–Test Split</a:t>
            </a:r>
          </a:p>
          <a:p>
            <a:pPr>
              <a:buNone/>
            </a:pPr>
            <a:r>
              <a:rPr lang="en-US" b="1" dirty="0"/>
              <a:t>	</a:t>
            </a:r>
            <a:r>
              <a:rPr lang="en-US" dirty="0" smtClean="0"/>
              <a:t>Divided the dataset into training and testing sets. </a:t>
            </a:r>
          </a:p>
          <a:p>
            <a:pPr>
              <a:buNone/>
            </a:pPr>
            <a:r>
              <a:rPr lang="en-US" dirty="0" smtClean="0"/>
              <a:t>	Used SMOTE to handle the class imbalance in the training data.</a:t>
            </a:r>
          </a:p>
          <a:p>
            <a:r>
              <a:rPr lang="en-US" b="1" u="sng" dirty="0" smtClean="0"/>
              <a:t>Step 4 – Feature Scaling</a:t>
            </a:r>
          </a:p>
          <a:p>
            <a:pPr>
              <a:buNone/>
            </a:pPr>
            <a:r>
              <a:rPr lang="en-US" dirty="0" smtClean="0"/>
              <a:t>	Applied </a:t>
            </a:r>
            <a:r>
              <a:rPr lang="en-US" dirty="0" err="1" smtClean="0"/>
              <a:t>StandardScaler</a:t>
            </a:r>
            <a:r>
              <a:rPr lang="en-US" dirty="0" smtClean="0"/>
              <a:t> so that all features are in the same range.</a:t>
            </a:r>
          </a:p>
          <a:p>
            <a:r>
              <a:rPr lang="en-US" b="1" u="sng" dirty="0" smtClean="0"/>
              <a:t>Step 5 – Model Selection	</a:t>
            </a:r>
          </a:p>
          <a:p>
            <a:pPr>
              <a:buNone/>
            </a:pPr>
            <a:r>
              <a:rPr lang="en-US" b="1" dirty="0"/>
              <a:t>	</a:t>
            </a:r>
            <a:r>
              <a:rPr lang="en-US" b="1" i="1" dirty="0" smtClean="0"/>
              <a:t>Trained Logistic Regression </a:t>
            </a:r>
            <a:r>
              <a:rPr lang="en-US" dirty="0" smtClean="0"/>
              <a:t>on scaled data (CV = 87.4) and </a:t>
            </a:r>
            <a:r>
              <a:rPr lang="en-US" dirty="0" err="1" smtClean="0"/>
              <a:t>unscaled</a:t>
            </a:r>
            <a:r>
              <a:rPr lang="en-US" dirty="0" smtClean="0"/>
              <a:t> data (CV = 87.2).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 smtClean="0"/>
              <a:t>Trained Random Forest Classifier </a:t>
            </a:r>
            <a:r>
              <a:rPr lang="en-US" dirty="0" smtClean="0"/>
              <a:t>(CV = 98.74).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i="1" dirty="0" smtClean="0"/>
              <a:t>Tuned Random Forest </a:t>
            </a:r>
            <a:r>
              <a:rPr lang="en-US" dirty="0" smtClean="0"/>
              <a:t>and found </a:t>
            </a:r>
            <a:r>
              <a:rPr lang="en-US" dirty="0" err="1" smtClean="0"/>
              <a:t>n_estimators</a:t>
            </a:r>
            <a:r>
              <a:rPr lang="en-US" dirty="0" smtClean="0"/>
              <a:t> = 200 as the best parameter. After </a:t>
            </a:r>
            <a:r>
              <a:rPr lang="en-US" dirty="0" err="1" smtClean="0"/>
              <a:t>hyperparameter</a:t>
            </a:r>
            <a:r>
              <a:rPr lang="en-US" dirty="0" smtClean="0"/>
              <a:t> tuning, CV score increased to 98.76.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i="1" dirty="0" smtClean="0"/>
              <a:t>Trained </a:t>
            </a:r>
            <a:r>
              <a:rPr lang="en-US" b="1" i="1" dirty="0" err="1" smtClean="0"/>
              <a:t>XGBoost</a:t>
            </a:r>
            <a:r>
              <a:rPr lang="en-US" b="1" i="1" dirty="0" smtClean="0"/>
              <a:t> </a:t>
            </a:r>
            <a:r>
              <a:rPr lang="en-US" dirty="0" smtClean="0"/>
              <a:t>and got a CV score of 98.64.</a:t>
            </a:r>
          </a:p>
          <a:p>
            <a:r>
              <a:rPr lang="en-US" b="1" u="sng" dirty="0" smtClean="0"/>
              <a:t>Step 6 – Submission File Preparation</a:t>
            </a:r>
            <a:endParaRPr lang="en-US" b="1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2846" y="785794"/>
          <a:ext cx="878687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479"/>
                <a:gridCol w="1464479"/>
                <a:gridCol w="1464479"/>
                <a:gridCol w="1464479"/>
                <a:gridCol w="1464479"/>
                <a:gridCol w="146447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</a:t>
                      </a:r>
                      <a:r>
                        <a:rPr lang="en-US" baseline="0" dirty="0" smtClean="0"/>
                        <a:t>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Precision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Recall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F1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Cross Validation</a:t>
                      </a:r>
                      <a:r>
                        <a:rPr lang="en-US" baseline="0" dirty="0" smtClean="0"/>
                        <a:t> Score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Logistic Regression (Scaled</a:t>
                      </a:r>
                      <a:r>
                        <a:rPr lang="en-US" baseline="0" dirty="0" smtClean="0"/>
                        <a:t> Data)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87.5</a:t>
                      </a:r>
                      <a:r>
                        <a:rPr lang="en-US" baseline="0" dirty="0" smtClean="0"/>
                        <a:t> (Train)</a:t>
                      </a:r>
                    </a:p>
                    <a:p>
                      <a:pPr algn="ctr"/>
                      <a:r>
                        <a:rPr lang="en-US" baseline="0" dirty="0" smtClean="0"/>
                        <a:t>79.3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79.36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80.31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87.47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Logistic Regression (</a:t>
                      </a:r>
                      <a:r>
                        <a:rPr lang="en-US" dirty="0" err="1" smtClean="0"/>
                        <a:t>Unscaled</a:t>
                      </a:r>
                      <a:r>
                        <a:rPr lang="en-US" baseline="0" dirty="0" smtClean="0"/>
                        <a:t> Data)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87.20 (Train)</a:t>
                      </a:r>
                    </a:p>
                    <a:p>
                      <a:pPr algn="ctr"/>
                      <a:r>
                        <a:rPr lang="en-US" dirty="0" smtClean="0"/>
                        <a:t>79.75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79.75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80.68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 (Train)</a:t>
                      </a:r>
                    </a:p>
                    <a:p>
                      <a:pPr algn="ctr"/>
                      <a:r>
                        <a:rPr lang="en-US" dirty="0" smtClean="0"/>
                        <a:t>96.97</a:t>
                      </a:r>
                      <a:r>
                        <a:rPr lang="en-US" baseline="0" dirty="0" smtClean="0"/>
                        <a:t>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98.74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Random Forest After Hyper Parameter</a:t>
                      </a:r>
                      <a:r>
                        <a:rPr lang="en-US" baseline="0" dirty="0" smtClean="0"/>
                        <a:t> Tuning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 (Train)</a:t>
                      </a:r>
                    </a:p>
                    <a:p>
                      <a:pPr algn="ctr"/>
                      <a:r>
                        <a:rPr lang="en-US" dirty="0" smtClean="0"/>
                        <a:t>97.08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98.76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 Classifier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99.81 (Train)</a:t>
                      </a:r>
                    </a:p>
                    <a:p>
                      <a:pPr algn="ctr"/>
                      <a:r>
                        <a:rPr lang="en-US" dirty="0" smtClean="0"/>
                        <a:t>96.30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98.64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186766" cy="5714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Challenges &amp;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143932" cy="3857652"/>
          </a:xfrm>
        </p:spPr>
        <p:txBody>
          <a:bodyPr>
            <a:normAutofit/>
          </a:bodyPr>
          <a:lstStyle/>
          <a:p>
            <a:r>
              <a:rPr lang="en-US" sz="1600" b="1" dirty="0" smtClean="0"/>
              <a:t>Column removal impact: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After dropping certain columns, model performance decreased slightly.</a:t>
            </a:r>
          </a:p>
          <a:p>
            <a:r>
              <a:rPr lang="en-US" sz="1600" dirty="0" smtClean="0"/>
              <a:t>Logistic Regression accuracy changed from </a:t>
            </a:r>
            <a:r>
              <a:rPr lang="en-US" sz="1600" b="1" dirty="0" smtClean="0"/>
              <a:t>87.5% → 87.4%</a:t>
            </a:r>
            <a:endParaRPr lang="en-US" sz="1600" dirty="0" smtClean="0"/>
          </a:p>
          <a:p>
            <a:r>
              <a:rPr lang="en-US" sz="1600" dirty="0" smtClean="0"/>
              <a:t>Random Forest accuracy changed from </a:t>
            </a:r>
            <a:r>
              <a:rPr lang="en-US" sz="1600" b="1" dirty="0" smtClean="0"/>
              <a:t>99.1% → 98.7%</a:t>
            </a:r>
            <a:endParaRPr lang="en-US" sz="1600" dirty="0" smtClean="0"/>
          </a:p>
          <a:p>
            <a:r>
              <a:rPr lang="en-US" sz="1600" dirty="0" err="1" smtClean="0"/>
              <a:t>XGBoost</a:t>
            </a:r>
            <a:r>
              <a:rPr lang="en-US" sz="1600" dirty="0" smtClean="0"/>
              <a:t> accuracy changed from </a:t>
            </a:r>
            <a:r>
              <a:rPr lang="en-US" sz="1600" b="1" dirty="0" smtClean="0"/>
              <a:t>99.3% → 98.6%</a:t>
            </a:r>
            <a:endParaRPr lang="en-US" sz="1600" dirty="0" smtClean="0"/>
          </a:p>
          <a:p>
            <a:r>
              <a:rPr lang="en-US" sz="1600" b="1" dirty="0" smtClean="0"/>
              <a:t>ROC Curve difficulty: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Faced challenges plotting the ROC curve for a multi-class classification problem, as it requires a different approach compared to binary classification.</a:t>
            </a:r>
          </a:p>
          <a:p>
            <a:r>
              <a:rPr lang="en-US" sz="1600" b="1" dirty="0" smtClean="0"/>
              <a:t>Long </a:t>
            </a:r>
            <a:r>
              <a:rPr lang="en-US" sz="1600" b="1" dirty="0" err="1" smtClean="0"/>
              <a:t>GridSearchCV</a:t>
            </a:r>
            <a:r>
              <a:rPr lang="en-US" sz="1600" b="1" dirty="0" smtClean="0"/>
              <a:t> runtime: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Running </a:t>
            </a:r>
            <a:r>
              <a:rPr lang="en-US" sz="1600" dirty="0" err="1" smtClean="0"/>
              <a:t>GridSearchCV</a:t>
            </a:r>
            <a:r>
              <a:rPr lang="en-US" sz="1600" dirty="0" smtClean="0"/>
              <a:t> for Random Forest took </a:t>
            </a:r>
            <a:r>
              <a:rPr lang="en-US" sz="1600" b="1" dirty="0" smtClean="0"/>
              <a:t>around 47 minutes</a:t>
            </a:r>
            <a:r>
              <a:rPr lang="en-US" sz="1600" dirty="0" smtClean="0"/>
              <a:t> to determine the best </a:t>
            </a:r>
            <a:r>
              <a:rPr lang="en-US" sz="1600" dirty="0" err="1" smtClean="0"/>
              <a:t>hyperparameters</a:t>
            </a:r>
            <a:r>
              <a:rPr lang="en-US" sz="1600" dirty="0" smtClean="0"/>
              <a:t>.</a:t>
            </a:r>
          </a:p>
          <a:p>
            <a:r>
              <a:rPr lang="en-US" sz="1600" b="1" dirty="0" smtClean="0"/>
              <a:t>Cross-validation drop after SMOTE: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The Random Forest cross-validation score decreased from </a:t>
            </a:r>
            <a:r>
              <a:rPr lang="en-US" sz="1600" b="1" dirty="0" smtClean="0"/>
              <a:t>99.5% (before SMOTE)</a:t>
            </a:r>
            <a:r>
              <a:rPr lang="en-US" sz="1600" dirty="0" smtClean="0"/>
              <a:t> to </a:t>
            </a:r>
            <a:r>
              <a:rPr lang="en-US" sz="1600" b="1" dirty="0" smtClean="0"/>
              <a:t>98.7% (after SMOTE)</a:t>
            </a:r>
            <a:r>
              <a:rPr lang="en-US" sz="1600" dirty="0" smtClean="0"/>
              <a:t>.</a:t>
            </a:r>
          </a:p>
          <a:p>
            <a:endParaRPr lang="en-US" sz="20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00034" y="4500570"/>
            <a:ext cx="8186766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Future 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Improvements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1472" y="4500570"/>
            <a:ext cx="8186766" cy="1543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2910" y="5357826"/>
            <a:ext cx="8186766" cy="12572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Introduce </a:t>
            </a:r>
            <a:r>
              <a:rPr lang="en-US" dirty="0"/>
              <a:t>o</a:t>
            </a:r>
            <a:r>
              <a:rPr lang="en-US" dirty="0" smtClean="0"/>
              <a:t>utlier detection and handling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Test other models (SVM, </a:t>
            </a:r>
            <a:r>
              <a:rPr lang="en-US" dirty="0" err="1" smtClean="0"/>
              <a:t>LightGBM</a:t>
            </a:r>
            <a:r>
              <a:rPr lang="en-US" dirty="0" smtClean="0"/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Apply more efficient </a:t>
            </a:r>
            <a:r>
              <a:rPr lang="en-US" dirty="0" err="1" smtClean="0"/>
              <a:t>hyperparamter</a:t>
            </a:r>
            <a:r>
              <a:rPr lang="en-US" dirty="0" smtClean="0"/>
              <a:t> tuning methods.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Deploy the model with dashboard for real- time monitoring.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342</Words>
  <Application>Microsoft Office PowerPoint</Application>
  <PresentationFormat>On-screen Show (4:3)</PresentationFormat>
  <Paragraphs>98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Air Quality  Prediction Hackathon </vt:lpstr>
      <vt:lpstr>Slide 2</vt:lpstr>
      <vt:lpstr>Insights from EDA</vt:lpstr>
      <vt:lpstr>Approach</vt:lpstr>
      <vt:lpstr>Results</vt:lpstr>
      <vt:lpstr>Challenges &amp; Insights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16</cp:revision>
  <dcterms:created xsi:type="dcterms:W3CDTF">2025-11-18T11:26:01Z</dcterms:created>
  <dcterms:modified xsi:type="dcterms:W3CDTF">2025-11-18T13:52:27Z</dcterms:modified>
</cp:coreProperties>
</file>